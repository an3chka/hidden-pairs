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3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330"/>
                </a:solidFill>
                <a:latin typeface="Arial"/>
              </a:rPr>
              <a:t>ROC-AUC одного дерева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B8BEC7"/>
            </a:solidFill>
            <a:ln w="38100" cap="flat">
              <a:solidFill>
                <a:srgbClr val="B8BEC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BEC7"/>
              </a:solidFill>
              <a:ln w="9525" cap="flat">
                <a:solidFill>
                  <a:srgbClr val="B8BE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12</c:v>
                  </c:pt>
                  <c:pt idx="6">
                    <c:v>без огр.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0.727</c:v>
                </c:pt>
                <c:pt idx="1">
                  <c:v>0.79</c:v>
                </c:pt>
                <c:pt idx="2">
                  <c:v>0.845</c:v>
                </c:pt>
                <c:pt idx="3">
                  <c:v>0.919</c:v>
                </c:pt>
                <c:pt idx="4">
                  <c:v>0.939</c:v>
                </c:pt>
                <c:pt idx="5">
                  <c:v>0.941</c:v>
                </c:pt>
                <c:pt idx="6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FF6B4A"/>
            </a:solidFill>
            <a:ln w="38100" cap="flat">
              <a:solidFill>
                <a:srgbClr val="FF6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6B4A"/>
              </a:solidFill>
              <a:ln w="9525" cap="flat">
                <a:solidFill>
                  <a:srgbClr val="FF6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12</c:v>
                  </c:pt>
                  <c:pt idx="6">
                    <c:v>без огр.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0.72</c:v>
                </c:pt>
                <c:pt idx="1">
                  <c:v>0.747</c:v>
                </c:pt>
                <c:pt idx="2">
                  <c:v>0.766</c:v>
                </c:pt>
                <c:pt idx="3">
                  <c:v>0.786</c:v>
                </c:pt>
                <c:pt idx="4">
                  <c:v>0.781</c:v>
                </c:pt>
                <c:pt idx="5">
                  <c:v>0.781</c:v>
                </c:pt>
                <c:pt idx="6">
                  <c:v>0.693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глубина дерева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3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3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330"/>
                </a:solidFill>
                <a:latin typeface="Arial"/>
              </a:rPr>
              <a:t>Validation ROC-AUC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ROC-AUC</c:v>
                </c:pt>
              </c:strCache>
            </c:strRef>
          </c:tx>
          <c:spPr>
            <a:solidFill>
              <a:srgbClr val="B8BEC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Дерево</c:v>
                  </c:pt>
                  <c:pt idx="1">
                    <c:v>Случайный лес</c:v>
                  </c:pt>
                  <c:pt idx="2">
                    <c:v>Бустинг (HGB)</c:v>
                  </c:pt>
                  <c:pt idx="3">
                    <c:v>MLP (sklearn)</c:v>
                  </c:pt>
                  <c:pt idx="4">
                    <c:v>kNN</c:v>
                  </c:pt>
                  <c:pt idx="5">
                    <c:v>Nyström + Ridge</c:v>
                  </c:pt>
                  <c:pt idx="6">
                    <c:v>MLP (PyTorch)</c:v>
                  </c:pt>
                  <c:pt idx="7">
                    <c:v>SVM</c:v>
                  </c:pt>
                  <c:pt idx="8">
                    <c:v>SVM + взвеш. PCA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0.786</c:v>
                </c:pt>
                <c:pt idx="1">
                  <c:v>0.898</c:v>
                </c:pt>
                <c:pt idx="2">
                  <c:v>0.917</c:v>
                </c:pt>
                <c:pt idx="3">
                  <c:v>0.923</c:v>
                </c:pt>
                <c:pt idx="4">
                  <c:v>0.927</c:v>
                </c:pt>
                <c:pt idx="5">
                  <c:v>0.934</c:v>
                </c:pt>
                <c:pt idx="6">
                  <c:v>0.936</c:v>
                </c:pt>
                <c:pt idx="7">
                  <c:v>0.947</c:v>
                </c:pt>
                <c:pt idx="8">
                  <c:v>0.955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E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3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8"/>
          <c:min val="0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3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330"/>
                </a:solidFill>
                <a:latin typeface="Arial"/>
              </a:rPr>
              <a:t>SVM (C = 5): ROC-AUC после каждого шага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rgbClr val="B8BEC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без обработки</c:v>
                  </c:pt>
                  <c:pt idx="1">
                    <c:v>+ log1p</c:v>
                  </c:pt>
                  <c:pt idx="2">
                    <c:v>+ PCA 464</c:v>
                  </c:pt>
                  <c:pt idx="3">
                    <c:v>вес 0.1</c:v>
                  </c:pt>
                  <c:pt idx="4">
                    <c:v>вес 0.1875</c:v>
                  </c:pt>
                  <c:pt idx="5">
                    <c:v>вес 0.3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0.921</c:v>
                </c:pt>
                <c:pt idx="1">
                  <c:v>0.9242</c:v>
                </c:pt>
                <c:pt idx="2">
                  <c:v>0.9238</c:v>
                </c:pt>
                <c:pt idx="3">
                  <c:v>0.9256</c:v>
                </c:pt>
                <c:pt idx="4">
                  <c:v>0.9253</c:v>
                </c:pt>
                <c:pt idx="5">
                  <c:v>0.9226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без обработки</c:v>
                  </c:pt>
                  <c:pt idx="1">
                    <c:v>+ log1p</c:v>
                  </c:pt>
                  <c:pt idx="2">
                    <c:v>+ PCA 464</c:v>
                  </c:pt>
                  <c:pt idx="3">
                    <c:v>вес 0.1</c:v>
                  </c:pt>
                  <c:pt idx="4">
                    <c:v>вес 0.1875</c:v>
                  </c:pt>
                  <c:pt idx="5">
                    <c:v>вес 0.3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0.9447</c:v>
                </c:pt>
                <c:pt idx="1">
                  <c:v>0.9489</c:v>
                </c:pt>
                <c:pt idx="2">
                  <c:v>0.9494</c:v>
                </c:pt>
                <c:pt idx="3">
                  <c:v>0.9529</c:v>
                </c:pt>
                <c:pt idx="4">
                  <c:v>0.9548</c:v>
                </c:pt>
                <c:pt idx="5">
                  <c:v>0.9521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6B72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3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9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3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33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330"/>
                </a:solidFill>
                <a:latin typeface="Arial"/>
              </a:rPr>
              <a:t>Вес модели в ансамбле (подобран Optuna)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</c:v>
                </c:pt>
              </c:strCache>
            </c:strRef>
          </c:tx>
          <c:spPr>
            <a:solidFill>
              <a:srgbClr val="B8BEC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3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E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C8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C8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Бустинг (HGB)</c:v>
                  </c:pt>
                  <c:pt idx="1">
                    <c:v>Nyström + Ridge</c:v>
                  </c:pt>
                  <c:pt idx="2">
                    <c:v>MLP (PyTorch)</c:v>
                  </c:pt>
                  <c:pt idx="3">
                    <c:v>MLP (sklearn)</c:v>
                  </c:pt>
                  <c:pt idx="4">
                    <c:v>kNN</c:v>
                  </c:pt>
                  <c:pt idx="5">
                    <c:v>SVM</c:v>
                  </c:pt>
                  <c:pt idx="6">
                    <c:v>SVM + взвеш. PCA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0.002</c:v>
                </c:pt>
                <c:pt idx="1">
                  <c:v>0.004</c:v>
                </c:pt>
                <c:pt idx="2">
                  <c:v>0.014</c:v>
                </c:pt>
                <c:pt idx="3">
                  <c:v>0.065</c:v>
                </c:pt>
                <c:pt idx="4">
                  <c:v>0.16</c:v>
                </c:pt>
                <c:pt idx="5">
                  <c:v>0.33</c:v>
                </c:pt>
                <c:pt idx="6">
                  <c:v>0.425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E23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3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Наша задача — определить, описывают ли два анонимных наблюдения одну и ту же скрытую сущность. Итоговое решение — SVM с RBF-ядром на PCA с перевзвешенными компонентами, public ROC-AUC 0.9437.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Данных три части. Train — для обучения, validation — отделён по скрытым сущностям, поэтому показывает, как модель работает на новых объектах. Test — только для предсказаний. Train и validation мы не объединяем — это запрещено правилами.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признак связан с целевой переменной слабо: корреляция около 0.2, лучший одиночный признак даёт AUC всего 0.70. При этом признаки почти не коррелируют между собой, поэтому PCA не может сжать их в несколько компонент — для 90% дисперсии нужно 323 компоненты. Значит, информация размазана по всем признакам.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ROC-AUC оценивает только порядок предсказаний. Мы считали две оценки: кросс-валидацию на train и validation. У validation всего 560 строк, поэтому она шумная. У CV больше данных, но сущности там общие между фолдами. Поэтому параметры подбирали по среднему двух оценок.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Начали с интерпретируемого дерева. С ростом глубины train растёт до 1.0, а validation достигает максимума 0.79 на глубине 6 и дальше падает — дерево переобучается. Случайный лес и градиентный бустинг заметно лучше (0.90 и 0.92), но всё равно уступают следующим моделям.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Сравнили 9 моделей на одном и том же validation. Все ансамбли деревьев уступают моделям, работающим с расстояниями. Объяснение: у дерева каждый сплит использует один признак, а у нас сигнал слабый в каждом признаке и распределён по всем. RBF-SVM сравнивает объекты по расстоянию во всём пространстве признаков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подбора использовали Optuna. Первый триал — лучшие известные параметры, дальше алгоритм TPE ищет рядом с удачными областями. Для SVM 30 триалов не нашли ничего лучше, для kNN нашлось небольшое улучшение, причём и на CV, и на validation — значит, это не подгонка.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модель — это цепочка из пяти шагов. log1p убирает длинные хвосты, StandardScaler выравнивает масштабы, PCA оставляет 464 компоненты из 512, затем каждая компонента умножается на свою дисперсию в степени 0.1875, и в конце RBF-SVM. Все шаги обучаются только на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Проверили вклад каждого шага на одной и той же SVM. log1p даёт +0.004 на validation, само сокращение PCA почти ничего не меняет, а перевзвешивание компонент даёт ещё +0.005. При степени 0.3 качество снова падает. Оптимум около 0.1–0.19; на CV прирост меньше, чем на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Второе решение — взвешенный ансамбль. Веса подбирала Optuna. Фактически он состоит из четырёх моделей: две SVM дают основу — 76% веса, kNN и MLP — ещё 22%. Остальные три модели получили почти нулевой вес.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такие веса. Ансамбль выигрывает, только если модели ошибаются по-разному. Матрица показывает, насколько одинаково модели ранжируют пары. Nyström почти копирует SVM — корреляция 0.98, поэтому вес около нуля. kNN и MLP слабее, но меньше всего похожи на SVM, поэтому они получили вес. Проверка: если убрать svm_w, validation падает сильнее всего; без Nyström, PyTorch MLP и бустинга ничего не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итоге два кандидата. Одна SVM лучше на validation и на public leaderboard, ансамбль чуть лучше на CV. Разница между ними в пределах шума. Важно, что порядок на public совпал с validation — значит, наша локальная проверка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Финальным выбрали одну SVM на взвешенном PCA: у неё лучший validation и public, она проще и быстрее ансамбля и полностью воспроизводится. Главное, что мы поняли о данных: сигнал слабый и распределён по всем признакам, поэтому лучше работают модели на расстояниях, а перевзвешивание PCA помогает ослабить шумные направления.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2743200" cy="2743200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914400"/>
            <a:ext cx="2743200" cy="2743200"/>
          </a:xfrm>
          <a:prstGeom prst="ellipse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Pairs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деревьев решений к SVM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взвешенном PCA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0.9437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AE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ROC-AUC на Kaggle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машинное обучение · Kaggle Week 03 · 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строка — пара скрытых наблюдений, описанная 512 анонимными числовыми признаками.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предсказать вероятность того, что оба наблюдения — одна и та же сущность.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2880360"/>
            <a:ext cx="731520" cy="7315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8803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880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P(одна сущность)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одна, 0 — разные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Метрика: </a:t>
            </a:r>
            <a:pPr indent="0" marL="0">
              <a:buNone/>
            </a:pPr>
            <a:r>
              <a:rPr lang="en-US" sz="13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— важен порядок скоров, а не их значения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1097280"/>
            <a:ext cx="3383280" cy="932688"/>
          </a:xfrm>
          <a:prstGeom prst="roundRect">
            <a:avLst>
              <a:gd name="adj" fmla="val 7843"/>
            </a:avLst>
          </a:prstGeom>
          <a:solidFill>
            <a:srgbClr val="F2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32120" y="1097280"/>
            <a:ext cx="1325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2 520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09728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 модели и весь препроцессинг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2212848"/>
            <a:ext cx="3383280" cy="932688"/>
          </a:xfrm>
          <a:prstGeom prst="roundRect">
            <a:avLst>
              <a:gd name="adj" fmla="val 7843"/>
            </a:avLst>
          </a:prstGeom>
          <a:solidFill>
            <a:srgbClr val="F2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32120" y="2212848"/>
            <a:ext cx="1325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212848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сущности — выбор модели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3328416"/>
            <a:ext cx="3383280" cy="932688"/>
          </a:xfrm>
          <a:prstGeom prst="roundRect">
            <a:avLst>
              <a:gd name="adj" fmla="val 7843"/>
            </a:avLst>
          </a:prstGeom>
          <a:solidFill>
            <a:srgbClr val="F2F3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2120" y="3328416"/>
            <a:ext cx="1325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1 116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328416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предсказания для Kaggle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показали данные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2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медианная |корреляция| признака с target (максимум 0.31)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109728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2F3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659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лучшего одиночного признака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2F3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|корреляция| между признаками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6324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2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749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PCA нужны для 90% дисперсии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1097280"/>
            <a:ext cx="2971800" cy="3383280"/>
          </a:xfrm>
          <a:prstGeom prst="roundRect">
            <a:avLst>
              <a:gd name="adj" fmla="val 2462"/>
            </a:avLst>
          </a:prstGeom>
          <a:solidFill>
            <a:srgbClr val="1E23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12801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 есть в каждом признаке, но слабый.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 почти независимы и не сжимаются в пару компонент.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модель, которая объединяет все 512 признаков сразу.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Хвостатые распределения: skew 2.2 → 1.1 после log1p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измеряли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24712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24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0515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Вероятность, что настоящая пара получит скор выше ненастоящей. 0.5 — случайно, 1 — идеально.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78308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CV, 5 фолдов (OOF)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строка train предсказана моделью, которая её не видела. 2 520 строк — стабильная оценка.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51460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сущности — проверка на новых объектах. 560 строк — шум около ±0.008.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4612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 validation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 разрыв между ними — признак переобучения.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97764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leaderboard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на Kaggle. Модель по нему не выбирали.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35040" y="114300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0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13258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выбора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 + valid) / 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должна быть хороша и на фолдах, и на новых сущностях — так мы меньше подгоняемся под 560 строк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1. Деревья решений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0" y="1188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одного дерева (глубина 6)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331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 / 0.69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ограничений: train / validation — переобучение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474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 → 0.92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случайный лес → бустинг: лучше, но упёрлись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2. Модели на расстояниях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54864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72200" y="118872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SVM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делит по одному признаку за раз, а сигнал размазан по всем 512.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RBF-ядро сравнивает объекты по расстоянию сразу во всех признаках.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модели на расстояниях (SVM, kNN) обгоняют деревья.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4114800"/>
            <a:ext cx="164592" cy="164592"/>
          </a:xfrm>
          <a:prstGeom prst="rect">
            <a:avLst/>
          </a:prstGeom>
          <a:solidFill>
            <a:srgbClr val="B8BEC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деревья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78040" y="4114800"/>
            <a:ext cx="164592" cy="16459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06640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параметров: Optuna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188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Триал 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известные параметры — точка отсчёта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40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Триалы 1…N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TPE пробует новые параметры рядом с удачными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rgbClr val="1E23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 + valid) / 2 — не подгоняемся только под validation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2F3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74920" y="118872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+ взвеш. PCA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30 триалов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не нашлось: подобранные вручную параметры уже у оптимума.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0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26517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50 триалов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k: 17 → 19, вес PCA: 0 → 0.07.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+0.002 и validation +0.002.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931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393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на взвешенном PCA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F2F3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83080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сжимает длинные хвосты распределений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1417320"/>
            <a:ext cx="201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39696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F2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76856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76856" y="1783080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39696" y="269748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признаки в одном масштабе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21024" y="1417320"/>
            <a:ext cx="201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22192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F2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59352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1783080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464 из 512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822192" y="269748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убираем 48 хвостовых компонент (1.6% дисперсии)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417320"/>
            <a:ext cx="201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04688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F2F3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41848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1783080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λ^0.1875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компонент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04688" y="269748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усиливаем главные направления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86016" y="1417320"/>
            <a:ext cx="201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B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87184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FF6B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24344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24344" y="1783080"/>
            <a:ext cx="1252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5, γ = 1/464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87184" y="269748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с максимальным зазором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0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0.9253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0.9548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0.9437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LB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внутри sklearn Pipeline: </a:t>
            </a:r>
            <a:pPr indent="0" marL="0">
              <a:buNone/>
            </a:pPr>
            <a:r>
              <a:rPr lang="en-US" sz="11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шаги обучаются только на train и заново на каждом фолде.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931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393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 каждый шаг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960120"/>
          <a:ext cx="53949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126480" y="10972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400×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дисперсия 1-й компоненты больше, чем у 464-й: хвост — в основном шум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2860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3×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λ^0.1875 дополнительно усиливает главные компоненты относительно хвостовых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4747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220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сильный вес уже хуже: теряем полезные компоненты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931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393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Ансамбль: из чего он состоит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960120"/>
          <a:ext cx="48463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143000"/>
            <a:ext cx="201168" cy="20116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Shape 7"/>
          <p:cNvSpPr/>
          <p:nvPr/>
        </p:nvSpPr>
        <p:spPr>
          <a:xfrm>
            <a:off x="5614416" y="114300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109728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· 76%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svm_w и SVM — самые точные модели. Они очень похожи (ρ = 0.99), но обычная SVM добавляет устойчивость на CV.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2313432"/>
            <a:ext cx="201168" cy="201168"/>
          </a:xfrm>
          <a:prstGeom prst="ellipse">
            <a:avLst/>
          </a:prstGeom>
          <a:solidFill>
            <a:srgbClr val="7FC8B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97880" y="226771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Разнообразие · 22%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и MLP слабее по отдельности, но меньше всего похожи на SVM (ρ ≈ 0.91–0.92) и исправляют другие ошибки.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83864"/>
            <a:ext cx="201168" cy="201168"/>
          </a:xfrm>
          <a:prstGeom prst="ellipse">
            <a:avLst/>
          </a:prstGeom>
          <a:solidFill>
            <a:srgbClr val="B8BEC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3438144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 · остальные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Nyström — приближение того же RBF-ядра, дубль SVM. Бустинг слабее. PyTorch MLP ничего нового не добавляет.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931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393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Ансамбль: почему такие веса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41732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svm_w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svm_w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81965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591056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2219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Nyström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993392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Nyström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6243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PT-MLP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PT-MLP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0266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798064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HGB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34290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383133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02736" y="11247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234440" y="1417320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34440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36776" y="1417320"/>
            <a:ext cx="374904" cy="374904"/>
          </a:xfrm>
          <a:prstGeom prst="rect">
            <a:avLst/>
          </a:prstGeom>
          <a:solidFill>
            <a:srgbClr val="317B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636776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39112" y="1417320"/>
            <a:ext cx="374904" cy="374904"/>
          </a:xfrm>
          <a:prstGeom prst="rect">
            <a:avLst/>
          </a:prstGeom>
          <a:solidFill>
            <a:srgbClr val="55928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039112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1417320"/>
            <a:ext cx="374904" cy="374904"/>
          </a:xfrm>
          <a:prstGeom prst="rect">
            <a:avLst/>
          </a:prstGeom>
          <a:solidFill>
            <a:srgbClr val="659D9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441448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43784" y="1417320"/>
            <a:ext cx="374904" cy="374904"/>
          </a:xfrm>
          <a:prstGeom prst="rect">
            <a:avLst/>
          </a:prstGeom>
          <a:solidFill>
            <a:srgbClr val="8CB7B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843784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1417320"/>
            <a:ext cx="374904" cy="374904"/>
          </a:xfrm>
          <a:prstGeom prst="rect">
            <a:avLst/>
          </a:prstGeom>
          <a:solidFill>
            <a:srgbClr val="8DB8B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46120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48456" y="1417320"/>
            <a:ext cx="374904" cy="374904"/>
          </a:xfrm>
          <a:prstGeom prst="rect">
            <a:avLst/>
          </a:prstGeom>
          <a:solidFill>
            <a:srgbClr val="9AC0B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648456" y="141732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234440" y="1819656"/>
            <a:ext cx="374904" cy="374904"/>
          </a:xfrm>
          <a:prstGeom prst="rect">
            <a:avLst/>
          </a:prstGeom>
          <a:solidFill>
            <a:srgbClr val="317B7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234440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36776" y="1819656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636776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39112" y="1819656"/>
            <a:ext cx="374904" cy="374904"/>
          </a:xfrm>
          <a:prstGeom prst="rect">
            <a:avLst/>
          </a:prstGeom>
          <a:solidFill>
            <a:srgbClr val="3F847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039112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41448" y="1819656"/>
            <a:ext cx="374904" cy="374904"/>
          </a:xfrm>
          <a:prstGeom prst="rect">
            <a:avLst/>
          </a:prstGeom>
          <a:solidFill>
            <a:srgbClr val="6CA29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441448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843784" y="1819656"/>
            <a:ext cx="374904" cy="374904"/>
          </a:xfrm>
          <a:prstGeom prst="rect">
            <a:avLst/>
          </a:prstGeom>
          <a:solidFill>
            <a:srgbClr val="75A7A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843784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1819656"/>
            <a:ext cx="374904" cy="374904"/>
          </a:xfrm>
          <a:prstGeom prst="rect">
            <a:avLst/>
          </a:prstGeom>
          <a:solidFill>
            <a:srgbClr val="97BEB9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246120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48456" y="1819656"/>
            <a:ext cx="374904" cy="374904"/>
          </a:xfrm>
          <a:prstGeom prst="rect">
            <a:avLst/>
          </a:prstGeom>
          <a:solidFill>
            <a:srgbClr val="86B3A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48456" y="181965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234440" y="2221992"/>
            <a:ext cx="374904" cy="374904"/>
          </a:xfrm>
          <a:prstGeom prst="rect">
            <a:avLst/>
          </a:prstGeom>
          <a:solidFill>
            <a:srgbClr val="55928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234440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36776" y="2221992"/>
            <a:ext cx="374904" cy="374904"/>
          </a:xfrm>
          <a:prstGeom prst="rect">
            <a:avLst/>
          </a:prstGeom>
          <a:solidFill>
            <a:srgbClr val="3F847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636776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039112" y="2221992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039112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441448" y="2221992"/>
            <a:ext cx="374904" cy="374904"/>
          </a:xfrm>
          <a:prstGeom prst="rect">
            <a:avLst/>
          </a:prstGeom>
          <a:solidFill>
            <a:srgbClr val="7DADA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2441448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843784" y="2221992"/>
            <a:ext cx="374904" cy="374904"/>
          </a:xfrm>
          <a:prstGeom prst="rect">
            <a:avLst/>
          </a:prstGeom>
          <a:solidFill>
            <a:srgbClr val="689F99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843784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46120" y="2221992"/>
            <a:ext cx="374904" cy="374904"/>
          </a:xfrm>
          <a:prstGeom prst="rect">
            <a:avLst/>
          </a:prstGeom>
          <a:solidFill>
            <a:srgbClr val="AACBC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246120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48456" y="2221992"/>
            <a:ext cx="374904" cy="374904"/>
          </a:xfrm>
          <a:prstGeom prst="rect">
            <a:avLst/>
          </a:prstGeom>
          <a:solidFill>
            <a:srgbClr val="88B4A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648456" y="2221992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234440" y="2624328"/>
            <a:ext cx="374904" cy="374904"/>
          </a:xfrm>
          <a:prstGeom prst="rect">
            <a:avLst/>
          </a:prstGeom>
          <a:solidFill>
            <a:srgbClr val="659D9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234440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36776" y="2624328"/>
            <a:ext cx="374904" cy="374904"/>
          </a:xfrm>
          <a:prstGeom prst="rect">
            <a:avLst/>
          </a:prstGeom>
          <a:solidFill>
            <a:srgbClr val="6CA29B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636776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039112" y="2624328"/>
            <a:ext cx="374904" cy="374904"/>
          </a:xfrm>
          <a:prstGeom prst="rect">
            <a:avLst/>
          </a:prstGeom>
          <a:solidFill>
            <a:srgbClr val="7DADA7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2039112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441448" y="2624328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2441448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843784" y="2624328"/>
            <a:ext cx="374904" cy="374904"/>
          </a:xfrm>
          <a:prstGeom prst="rect">
            <a:avLst/>
          </a:prstGeom>
          <a:solidFill>
            <a:srgbClr val="8DB8B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2843784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46120" y="2624328"/>
            <a:ext cx="374904" cy="374904"/>
          </a:xfrm>
          <a:prstGeom prst="rect">
            <a:avLst/>
          </a:prstGeom>
          <a:solidFill>
            <a:srgbClr val="77A9A3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246120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648456" y="2624328"/>
            <a:ext cx="374904" cy="374904"/>
          </a:xfrm>
          <a:prstGeom prst="rect">
            <a:avLst/>
          </a:prstGeom>
          <a:solidFill>
            <a:srgbClr val="AACBC6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3648456" y="2624328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234440" y="3026664"/>
            <a:ext cx="374904" cy="374904"/>
          </a:xfrm>
          <a:prstGeom prst="rect">
            <a:avLst/>
          </a:prstGeom>
          <a:solidFill>
            <a:srgbClr val="8CB7B1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234440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636776" y="3026664"/>
            <a:ext cx="374904" cy="374904"/>
          </a:xfrm>
          <a:prstGeom prst="rect">
            <a:avLst/>
          </a:prstGeom>
          <a:solidFill>
            <a:srgbClr val="75A7A1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636776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039112" y="3026664"/>
            <a:ext cx="374904" cy="374904"/>
          </a:xfrm>
          <a:prstGeom prst="rect">
            <a:avLst/>
          </a:prstGeom>
          <a:solidFill>
            <a:srgbClr val="689F99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2039112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441448" y="3026664"/>
            <a:ext cx="374904" cy="374904"/>
          </a:xfrm>
          <a:prstGeom prst="rect">
            <a:avLst/>
          </a:prstGeom>
          <a:solidFill>
            <a:srgbClr val="8DB8B2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2441448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843784" y="3026664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2843784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246120" y="3026664"/>
            <a:ext cx="374904" cy="374904"/>
          </a:xfrm>
          <a:prstGeom prst="rect">
            <a:avLst/>
          </a:prstGeom>
          <a:solidFill>
            <a:srgbClr val="A9CAC5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246120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648456" y="3026664"/>
            <a:ext cx="374904" cy="374904"/>
          </a:xfrm>
          <a:prstGeom prst="rect">
            <a:avLst/>
          </a:prstGeom>
          <a:solidFill>
            <a:srgbClr val="BED7D4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3648456" y="3026664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234440" y="3429000"/>
            <a:ext cx="374904" cy="374904"/>
          </a:xfrm>
          <a:prstGeom prst="rect">
            <a:avLst/>
          </a:prstGeom>
          <a:solidFill>
            <a:srgbClr val="8DB8B2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234440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636776" y="3429000"/>
            <a:ext cx="374904" cy="374904"/>
          </a:xfrm>
          <a:prstGeom prst="rect">
            <a:avLst/>
          </a:prstGeom>
          <a:solidFill>
            <a:srgbClr val="97BEB9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636776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039112" y="3429000"/>
            <a:ext cx="374904" cy="374904"/>
          </a:xfrm>
          <a:prstGeom prst="rect">
            <a:avLst/>
          </a:prstGeom>
          <a:solidFill>
            <a:srgbClr val="AACBC6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2039112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441448" y="3429000"/>
            <a:ext cx="374904" cy="374904"/>
          </a:xfrm>
          <a:prstGeom prst="rect">
            <a:avLst/>
          </a:prstGeom>
          <a:solidFill>
            <a:srgbClr val="77A9A3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2441448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843784" y="3429000"/>
            <a:ext cx="374904" cy="374904"/>
          </a:xfrm>
          <a:prstGeom prst="rect">
            <a:avLst/>
          </a:prstGeom>
          <a:solidFill>
            <a:srgbClr val="A9CAC5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2843784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246120" y="3429000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3246120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648456" y="3429000"/>
            <a:ext cx="374904" cy="374904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3648456" y="3429000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234440" y="3831336"/>
            <a:ext cx="374904" cy="374904"/>
          </a:xfrm>
          <a:prstGeom prst="rect">
            <a:avLst/>
          </a:prstGeom>
          <a:solidFill>
            <a:srgbClr val="9AC0BB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234440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636776" y="3831336"/>
            <a:ext cx="374904" cy="374904"/>
          </a:xfrm>
          <a:prstGeom prst="rect">
            <a:avLst/>
          </a:prstGeom>
          <a:solidFill>
            <a:srgbClr val="86B3AD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636776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039112" y="3831336"/>
            <a:ext cx="374904" cy="374904"/>
          </a:xfrm>
          <a:prstGeom prst="rect">
            <a:avLst/>
          </a:prstGeom>
          <a:solidFill>
            <a:srgbClr val="88B4AE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2039112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2441448" y="3831336"/>
            <a:ext cx="374904" cy="374904"/>
          </a:xfrm>
          <a:prstGeom prst="rect">
            <a:avLst/>
          </a:prstGeom>
          <a:solidFill>
            <a:srgbClr val="AACBC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2441448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843784" y="3831336"/>
            <a:ext cx="374904" cy="374904"/>
          </a:xfrm>
          <a:prstGeom prst="rect">
            <a:avLst/>
          </a:prstGeom>
          <a:solidFill>
            <a:srgbClr val="BED7D4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2843784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246120" y="3831336"/>
            <a:ext cx="374904" cy="374904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3246120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648456" y="3831336"/>
            <a:ext cx="374904" cy="374904"/>
          </a:xfrm>
          <a:prstGeom prst="rect">
            <a:avLst/>
          </a:prstGeom>
          <a:solidFill>
            <a:srgbClr val="1F6F66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3648456" y="3831336"/>
            <a:ext cx="374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850" dirty="0"/>
          </a:p>
        </p:txBody>
      </p:sp>
      <p:sp>
        <p:nvSpPr>
          <p:cNvPr id="120" name="Text 118"/>
          <p:cNvSpPr txBox="1"/>
          <p:nvPr/>
        </p:nvSpPr>
        <p:spPr>
          <a:xfrm>
            <a:off x="41148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Ранговая корреляция (Спирмен) предсказаний на validation. Темнее — модели ранжируют пары почти одинаково.</a:t>
            </a:r>
            <a:endParaRPr lang="en-US" sz="950" dirty="0"/>
          </a:p>
        </p:txBody>
      </p:sp>
      <p:sp>
        <p:nvSpPr>
          <p:cNvPr id="121" name="Text 119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убрать модель из ансамбля</a:t>
            </a:r>
            <a:endParaRPr lang="en-US" sz="1400" dirty="0"/>
          </a:p>
        </p:txBody>
      </p:sp>
      <p:sp>
        <p:nvSpPr>
          <p:cNvPr id="122" name="Text 120"/>
          <p:cNvSpPr txBox="1"/>
          <p:nvPr/>
        </p:nvSpPr>
        <p:spPr>
          <a:xfrm>
            <a:off x="4754880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svm_w</a:t>
            </a:r>
            <a:endParaRPr lang="en-US" sz="1150" dirty="0"/>
          </a:p>
        </p:txBody>
      </p:sp>
      <p:sp>
        <p:nvSpPr>
          <p:cNvPr id="123" name="Text 121"/>
          <p:cNvSpPr txBox="1"/>
          <p:nvPr/>
        </p:nvSpPr>
        <p:spPr>
          <a:xfrm>
            <a:off x="6355080" y="1463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−0.0043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7178040" y="1463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вклад</a:t>
            </a:r>
            <a:endParaRPr lang="en-US" sz="1000" dirty="0"/>
          </a:p>
        </p:txBody>
      </p:sp>
      <p:sp>
        <p:nvSpPr>
          <p:cNvPr id="125" name="Text 123"/>
          <p:cNvSpPr txBox="1"/>
          <p:nvPr/>
        </p:nvSpPr>
        <p:spPr>
          <a:xfrm>
            <a:off x="4754880" y="18653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150" dirty="0"/>
          </a:p>
        </p:txBody>
      </p:sp>
      <p:sp>
        <p:nvSpPr>
          <p:cNvPr id="126" name="Text 124"/>
          <p:cNvSpPr txBox="1"/>
          <p:nvPr/>
        </p:nvSpPr>
        <p:spPr>
          <a:xfrm>
            <a:off x="6355080" y="18653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−0.0010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717804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полезна, хотя слабее SVM</a:t>
            </a:r>
            <a:endParaRPr lang="en-US" sz="1000" dirty="0"/>
          </a:p>
        </p:txBody>
      </p:sp>
      <p:sp>
        <p:nvSpPr>
          <p:cNvPr id="128" name="Text 126"/>
          <p:cNvSpPr txBox="1"/>
          <p:nvPr/>
        </p:nvSpPr>
        <p:spPr>
          <a:xfrm>
            <a:off x="4754880" y="22677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50" dirty="0"/>
          </a:p>
        </p:txBody>
      </p:sp>
      <p:sp>
        <p:nvSpPr>
          <p:cNvPr id="129" name="Text 127"/>
          <p:cNvSpPr txBox="1"/>
          <p:nvPr/>
        </p:nvSpPr>
        <p:spPr>
          <a:xfrm>
            <a:off x="6355080" y="22677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−0.0005</a:t>
            </a:r>
            <a:endParaRPr lang="en-US" sz="1200" dirty="0"/>
          </a:p>
        </p:txBody>
      </p:sp>
      <p:sp>
        <p:nvSpPr>
          <p:cNvPr id="130" name="Text 128"/>
          <p:cNvSpPr txBox="1"/>
          <p:nvPr/>
        </p:nvSpPr>
        <p:spPr>
          <a:xfrm>
            <a:off x="7178040" y="22677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небольшой вклад</a:t>
            </a:r>
            <a:endParaRPr lang="en-US" sz="1000" dirty="0"/>
          </a:p>
        </p:txBody>
      </p:sp>
      <p:sp>
        <p:nvSpPr>
          <p:cNvPr id="131" name="Text 129"/>
          <p:cNvSpPr txBox="1"/>
          <p:nvPr/>
        </p:nvSpPr>
        <p:spPr>
          <a:xfrm>
            <a:off x="4754880" y="2670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150" dirty="0"/>
          </a:p>
        </p:txBody>
      </p:sp>
      <p:sp>
        <p:nvSpPr>
          <p:cNvPr id="132" name="Text 130"/>
          <p:cNvSpPr txBox="1"/>
          <p:nvPr/>
        </p:nvSpPr>
        <p:spPr>
          <a:xfrm>
            <a:off x="6355080" y="26700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+0.0006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7178040" y="26700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CV падает на 0.0007</a:t>
            </a:r>
            <a:endParaRPr lang="en-US" sz="1000" dirty="0"/>
          </a:p>
        </p:txBody>
      </p:sp>
      <p:sp>
        <p:nvSpPr>
          <p:cNvPr id="134" name="Text 132"/>
          <p:cNvSpPr txBox="1"/>
          <p:nvPr/>
        </p:nvSpPr>
        <p:spPr>
          <a:xfrm>
            <a:off x="4754880" y="3072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три</a:t>
            </a:r>
            <a:endParaRPr lang="en-US" sz="1150" dirty="0"/>
          </a:p>
        </p:txBody>
      </p:sp>
      <p:sp>
        <p:nvSpPr>
          <p:cNvPr id="135" name="Text 133"/>
          <p:cNvSpPr txBox="1"/>
          <p:nvPr/>
        </p:nvSpPr>
        <p:spPr>
          <a:xfrm>
            <a:off x="6355080" y="30723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7178040" y="30723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Nyström, PT-MLP, HGB — без изменений</a:t>
            </a:r>
            <a:endParaRPr lang="en-US" sz="1000" dirty="0"/>
          </a:p>
        </p:txBody>
      </p:sp>
      <p:sp>
        <p:nvSpPr>
          <p:cNvPr id="137" name="Text 135"/>
          <p:cNvSpPr txBox="1"/>
          <p:nvPr/>
        </p:nvSpPr>
        <p:spPr>
          <a:xfrm>
            <a:off x="47548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validation ROC-AUC (было 0.9531)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754880" y="37947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2F3F6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4937760" y="37947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= качество × непохожесть. </a:t>
            </a:r>
            <a:pPr indent="0" marL="0">
              <a:buNone/>
            </a:pPr>
            <a:r>
              <a:rPr lang="en-US" sz="1100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Копия SVM (Nyström, ρ = 0.98) получает ≈ 0, а более слабая, но другая kNN — 16%.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237744" cy="237744"/>
          </a:xfrm>
          <a:prstGeom prst="ellipse">
            <a:avLst/>
          </a:prstGeom>
          <a:solidFill>
            <a:srgbClr val="FF6B4A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7959" y="429768"/>
            <a:ext cx="237744" cy="237744"/>
          </a:xfrm>
          <a:prstGeom prst="ellipse">
            <a:avLst/>
          </a:prstGeom>
          <a:solidFill>
            <a:srgbClr val="2A9D8F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двух решений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0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на взвешенном PCA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→ PCA 464 → вес λ^0.1875 → RBF-SVM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0.9253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0.9548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0.9437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2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Взвешенный ансамбль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 4 модели: svm_w 43% · SVM 33% · kNN 16% · MLP 7%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0.9285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0.9531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260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0.9432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LB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0.002 на validation и 0.0005 на public — в пределах шума. Порядок на public совпал с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926080"/>
            <a:ext cx="2194560" cy="2194560"/>
          </a:xfrm>
          <a:prstGeom prst="ellipse">
            <a:avLst/>
          </a:prstGeom>
          <a:solidFill>
            <a:srgbClr val="FF6B4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926080"/>
            <a:ext cx="2194560" cy="219456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сабмит — SVM на взвешенном PCA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Лучший результат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E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0.955, public 0.944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737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E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модель вместо семи, в 5 раз быстрее ансамбля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737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Воспроизводимо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EB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train, фиксированные сиды, Restart → Run All ≈ 3 мин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выводы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Слабый сигнал во всех признаках → модели на расстояниях лучше деревьев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log1p + PCA с весом компонент: 0.9447 → 0.9548 на validation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D5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Ансамбль чуть лучше на CV, чуть хуже на validation — выбрали более простую модель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Pairs — защита решения</dc:title>
  <dc:subject>PptxGenJS Presentation</dc:subject>
  <dc:creator>PptxGenJS</dc:creator>
  <cp:lastModifiedBy>PptxGenJS</cp:lastModifiedBy>
  <cp:revision>1</cp:revision>
  <dcterms:created xsi:type="dcterms:W3CDTF">2026-09-25T20:50:47Z</dcterms:created>
  <dcterms:modified xsi:type="dcterms:W3CDTF">2026-09-25T20:50:47Z</dcterms:modified>
</cp:coreProperties>
</file>